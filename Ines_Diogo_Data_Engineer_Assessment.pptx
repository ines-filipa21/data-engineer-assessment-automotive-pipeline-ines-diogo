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28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 used; content based on the project scope and notebooks.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D_MASTER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 Industry Trends Pipeline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005840"/>
            <a:ext cx="10607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25400" dist="762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7240" y="16002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Engineer Assessment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Automotive Industry Trends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51960" y="330077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Inês Diogo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55720" y="2910181"/>
            <a:ext cx="4480560" cy="0"/>
          </a:xfrm>
          <a:prstGeom prst="line">
            <a:avLst/>
          </a:prstGeom>
          <a:noFill/>
          <a:ln w="12700">
            <a:solidFill>
              <a:srgbClr val="E5B5B3"/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6" name="Text 4"/>
          <p:cNvSpPr/>
          <p:nvPr/>
        </p:nvSpPr>
        <p:spPr>
          <a:xfrm>
            <a:off x="777240" y="4251960"/>
            <a:ext cx="1063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Databricks medallion pipeline using public automotive datasets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scope and intended output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34924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507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5093208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medallion-style data pipeline in Databricks to analyse broader automotive industry trends.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three public datasets covering vehicle complaints, fuel economy, and alternative fuel infrastructure.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9632" y="13258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32588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1399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64224" y="1783080"/>
            <a:ext cx="5047488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acquisition from heterogeneous public sources.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cleaning, standardisation, transformation, and simulated loading.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proposal and delivery through a public GitHub repository.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108173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520440"/>
            <a:ext cx="10817352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93592"/>
            <a:ext cx="10543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Final 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977640"/>
            <a:ext cx="10561320" cy="1435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Bronze, silver, and gold Delta tables.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notebooks with clear execution order.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PowerPoint that explains design choices, challenges, and next steps.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public datasets with different ingestion patterns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365760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9903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1. NHTSA Vehicle Complaints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783080"/>
            <a:ext cx="3401568" cy="2990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complaint records by vehicle, date, state, and event severity.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format challenge: no header row in the main file.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names had to be extracted from a separate metadata file.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89120" y="132588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325880"/>
            <a:ext cx="365760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39903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2. DOE Alternative Fuel Stations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1783080"/>
            <a:ext cx="3401568" cy="2990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Station-level information for alternative fuel infrastructure.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as a standard CSV with headers.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to analyse station counts and EV charging capacity.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132588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25880"/>
            <a:ext cx="33832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39903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3. EPA Vehicle Fuel Economy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1783080"/>
            <a:ext cx="3127248" cy="29900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efficiency, emissions, and fuel cost metrics.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Provided as a standard CSV with headers.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Included complex raw datetime strings in some fields.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3232" y="51663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937"/>
                </a:solidFill>
              </a:rPr>
              <a:t>Key acquisition note: the three datasets were not delivered in the same raw structure, so ingestion logic had to be adapted per source while keeping a consistent downstream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Medallion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responsibilities and design objective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32461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01952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Bronze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286000"/>
            <a:ext cx="2990088" cy="2487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ingestion with minimal technical changes.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fidelity preserved as much as possible.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Ingestion metadata added for traceability.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33672" y="18288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33672" y="1828800"/>
            <a:ext cx="32461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901952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Silver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98264" y="2286000"/>
            <a:ext cx="2990088" cy="2487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 and standardisation by dataset.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type casting, null handling, and record fixes.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Transforms raw data into consistent curated tables.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735824" y="182880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35824" y="1828800"/>
            <a:ext cx="32461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0416" y="1901952"/>
            <a:ext cx="2971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Gold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0416" y="2286000"/>
            <a:ext cx="2990088" cy="2487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tables with aggregated business metrics.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optimised for broader trend analysis.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stay simple, clear, and easy to explain.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937"/>
                </a:solidFill>
              </a:rPr>
              <a:t>Design principle: keep raw ingestion simple in bronze, apply controlled transformations in silver, and expose business-friendly analytical outputs in gold.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logic and opportunities for parallel processing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246120" y="117043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280"/>
                </a:solidFill>
              </a:rPr>
              <a:t>One-time setup: 00_catalog_and_schemas_setup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1554480"/>
            <a:ext cx="3383280" cy="658368"/>
          </a:xfrm>
          <a:prstGeom prst="roundRect">
            <a:avLst>
              <a:gd name="adj" fmla="val 8333"/>
            </a:avLst>
          </a:prstGeom>
          <a:solidFill>
            <a:srgbClr val="FDE7E7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62272" y="1627632"/>
            <a:ext cx="323697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01_bronze_ingestion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281635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02_silver_complaints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53128" y="274320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281635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03_silver_vehicle_fuel_economy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83296" y="274320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56448" y="281635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04_silver_alt_fuel_stations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FFF3F3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" y="432511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05_gold_complaints_analysis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453128" y="425196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FFF3F3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26280" y="432511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06_gold_vehicle_efficiency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83296" y="4251960"/>
            <a:ext cx="3291840" cy="786384"/>
          </a:xfrm>
          <a:prstGeom prst="roundRect">
            <a:avLst>
              <a:gd name="adj" fmla="val 6977"/>
            </a:avLst>
          </a:prstGeom>
          <a:solidFill>
            <a:srgbClr val="FFF3F3"/>
          </a:solidFill>
          <a:ln w="12700">
            <a:solidFill>
              <a:srgbClr val="E5B5B3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56448" y="4325112"/>
            <a:ext cx="3145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</a:rPr>
              <a:t>07_gold_alt_fuel_infrastructure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6000" y="3714276"/>
            <a:ext cx="0" cy="383059"/>
          </a:xfrm>
          <a:prstGeom prst="line">
            <a:avLst/>
          </a:prstGeom>
          <a:noFill/>
          <a:ln w="12700">
            <a:solidFill>
              <a:srgbClr val="8A1C1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68680" y="541324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i="1" dirty="0">
                <a:solidFill>
                  <a:srgbClr val="1F2937"/>
                </a:solidFill>
              </a:rPr>
              <a:t>00_common_functions is a shared utility notebook called by the others, so it is not a pipeline step by itself.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914400" y="571500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6B7280"/>
                </a:solidFill>
              </a:rPr>
              <a:t>Silver notebooks can run in parallel after bronze. Gold notebooks can run in parallel after silver.</a:t>
            </a:r>
            <a:endParaRPr lang="en-US" sz="132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6BB4B363-777B-2D28-1E76-D40E7E0A5D5D}"/>
              </a:ext>
            </a:extLst>
          </p:cNvPr>
          <p:cNvSpPr/>
          <p:nvPr/>
        </p:nvSpPr>
        <p:spPr>
          <a:xfrm>
            <a:off x="724930" y="2669059"/>
            <a:ext cx="10742140" cy="9720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D1B1FFA-0AB7-76E7-CB3B-1B907C102A1B}"/>
              </a:ext>
            </a:extLst>
          </p:cNvPr>
          <p:cNvSpPr/>
          <p:nvPr/>
        </p:nvSpPr>
        <p:spPr>
          <a:xfrm>
            <a:off x="724930" y="4140831"/>
            <a:ext cx="10742140" cy="9720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3F32C3F1-7FD6-6667-C26F-48B19CA05408}"/>
              </a:ext>
            </a:extLst>
          </p:cNvPr>
          <p:cNvSpPr/>
          <p:nvPr/>
        </p:nvSpPr>
        <p:spPr>
          <a:xfrm>
            <a:off x="6096000" y="2212848"/>
            <a:ext cx="0" cy="383059"/>
          </a:xfrm>
          <a:prstGeom prst="line">
            <a:avLst/>
          </a:prstGeom>
          <a:noFill/>
          <a:ln w="12700">
            <a:solidFill>
              <a:srgbClr val="8A1C1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Notebook Responsibilities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each notebook does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99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Shared / Setup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783080"/>
            <a:ext cx="5047488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00_common_functions: reusable helper functions used across notebooks.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00_catalog_and_schemas_setup: one-time creation of catalog and bronze / silver / gold schemas.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32588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3990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Bronze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783080"/>
            <a:ext cx="5047488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01_bronze_ingestion: reads the three raw datasets, applies minimal technical adjustments, and writes bronze Delta tables.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38328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4564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Silver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840480"/>
            <a:ext cx="504748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02_silver_complaints: cleans and standardises complaints data.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03_silver_vehicle_fuel_economy: cleans and standardises fuel economy data.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04_silver_alt_fuel_stations: cleans and standardises fuel station data.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38328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345643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Gold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792" y="3840480"/>
            <a:ext cx="504748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05_gold_complaints_analysis: complaint metrics by vehicle and state.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06_gold_vehicle_efficiency: efficiency metrics by vehicle.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07_gold_alt_fuel_infrastructure: infrastructure metrics by state and fuel type.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Run 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execution sequence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36118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Step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335584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00_catalog_and_schemas_setup once to create the environment objects.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15968" y="1417320"/>
            <a:ext cx="3611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417320"/>
            <a:ext cx="36118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90472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Step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335584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01_bronze_ingestion to ingest the three raw datasets into bronze tables.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46136" y="141732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46136" y="1417320"/>
            <a:ext cx="352044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49047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Step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10728" y="1874520"/>
            <a:ext cx="326440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three silver notebooks to create the curated layer.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2697480"/>
            <a:ext cx="3611880" cy="121615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697480"/>
            <a:ext cx="36118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70632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Step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" y="3154680"/>
            <a:ext cx="335584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three gold notebooks to produce final analytical tables.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15968" y="2697480"/>
            <a:ext cx="3611880" cy="121615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2697480"/>
            <a:ext cx="36118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770632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Output Logic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80560" y="3154680"/>
            <a:ext cx="335584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notebook writes Delta tables that become the input for the next layer.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946136" y="2697480"/>
            <a:ext cx="3520440" cy="121615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46136" y="2697480"/>
            <a:ext cx="352044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10728" y="277063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Parallelism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10728" y="3154680"/>
            <a:ext cx="3264408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notebooks can run in parallel. Gold notebooks can also run in parallel.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937"/>
                </a:solidFill>
              </a:rPr>
              <a:t>This structure keeps dependencies simple and makes the notebook orchestration easy to understand and automate.</a:t>
            </a:r>
            <a:endParaRPr lang="en-US" sz="14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A167151-A608-591A-CB7F-8AB8DC65587F}"/>
              </a:ext>
            </a:extLst>
          </p:cNvPr>
          <p:cNvSpPr txBox="1"/>
          <p:nvPr/>
        </p:nvSpPr>
        <p:spPr>
          <a:xfrm>
            <a:off x="740664" y="5044362"/>
            <a:ext cx="10762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200" dirty="0"/>
          </a:p>
          <a:p>
            <a:pPr algn="ctr"/>
            <a:r>
              <a:rPr lang="en-US" sz="1200" dirty="0">
                <a:solidFill>
                  <a:srgbClr val="1F2937"/>
                </a:solidFill>
              </a:rPr>
              <a:t>Production note: in a production pipeline, exploratory notebook outputs such as display() would typically be removed. They were only kept for the assessment readability.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Bronze Layer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raw ingestion was intentionally kept lightweight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Design Choices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504748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source structure as closely as possible.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business logic during ingestion.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Standardise column names where needed for consistency.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source and ingestion metadata for traceability.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Reasoning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874520"/>
            <a:ext cx="504748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Keeping bronze simple makes the ingestion step easier to debug and explain.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parsing and dataset-specific cleaning were intentionally deferred to silver.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Silver Layer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cleaning and standardisation by dataset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599"/>
            <a:ext cx="5303520" cy="2551177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Processing Choices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28800"/>
            <a:ext cx="504748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/>
              <a:t>Invalid or placeholder values (such as blanks, NA, and similar non-meaningful entries) were </a:t>
            </a:r>
            <a:r>
              <a:rPr lang="en-US" sz="1450" dirty="0" err="1"/>
              <a:t>standardised</a:t>
            </a:r>
            <a:r>
              <a:rPr lang="en-US" sz="1450" dirty="0"/>
              <a:t> to null where appropriate.</a:t>
            </a:r>
          </a:p>
          <a:p>
            <a:pPr marL="177800" indent="-177800">
              <a:buSzPct val="100000"/>
              <a:buChar char="•"/>
            </a:pPr>
            <a:r>
              <a:rPr lang="en-US" sz="1450" dirty="0"/>
              <a:t>Key text fields were </a:t>
            </a:r>
            <a:r>
              <a:rPr lang="en-US" sz="1450" dirty="0" err="1"/>
              <a:t>normalised</a:t>
            </a:r>
            <a:r>
              <a:rPr lang="en-US" sz="1450" dirty="0"/>
              <a:t> using trim and uppercase.</a:t>
            </a:r>
          </a:p>
          <a:p>
            <a:pPr marL="177800" indent="-177800">
              <a:buSzPct val="100000"/>
              <a:buChar char="•"/>
            </a:pPr>
            <a:r>
              <a:rPr lang="en-US" sz="1450" dirty="0"/>
              <a:t>Date parsing was handled in the silver layer rather than in bronze.</a:t>
            </a:r>
          </a:p>
          <a:p>
            <a:pPr marL="177800" indent="-177800">
              <a:buSzPct val="100000"/>
              <a:buChar char="•"/>
            </a:pPr>
            <a:r>
              <a:rPr lang="en-US" sz="1450" dirty="0"/>
              <a:t>Numeric casting was applied selectively, only to fields considered both relevant and reliable for analysis.</a:t>
            </a:r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303520" cy="2551176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37160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4475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Robustness Choices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828800"/>
            <a:ext cx="5047488" cy="1618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values were handled before casts to avoid unnecessary failures during processing.</a:t>
            </a:r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Clearly malformed rows were excluded only when key analytical fields were invalid.</a:t>
            </a:r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Duplicates were removed using record identifiers where available.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133087"/>
            <a:ext cx="10469880" cy="1678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/>
              <a:t>The silver layer was designed to balance correctness, simplicity, and readability rather than maximizing transformation complexity.</a:t>
            </a:r>
          </a:p>
          <a:p>
            <a:pPr algn="ctr"/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Dataset-Specific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issues encountered during processing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352044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4475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Complaints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28800"/>
            <a:ext cx="3264408" cy="2350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file had no header row.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names had to be recovered from a separate metadata file.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fields were stored in compact yyyyMMdd format.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71600"/>
            <a:ext cx="365760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44475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Fuel Economy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7992" y="1828800"/>
            <a:ext cx="3401568" cy="2350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datetime fields used strings such as Tue Jan 01 00:00:00 EST 2013.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numeric-looking fields contained placeholders or mixed formats.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Casting had to remain selective to keep the pipeline stable.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3375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71600"/>
            <a:ext cx="333756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444752"/>
            <a:ext cx="3063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Fuel Stations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1828800"/>
            <a:ext cx="3081528" cy="2350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number of rows contained malformed coordinates and other invalid values.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records had to be filtered before numeric casting.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Challenges Were Addressed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Problem-solving approach used in the pipeline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2412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Ingestion logic was adapted per source while keeping a common medallion design.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parsing was deferred to silver, where it could be handled in a more controlled way.</a:t>
            </a: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Placeholder values were converted before casts to avoid unnecessary failures.</a:t>
            </a: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the fields needed for the analytical objectives were standardized in more detail.</a:t>
            </a: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Clearly malformed records were excluded only when key fields such as identifiers or coordinates were invalid.</a:t>
            </a:r>
            <a:endParaRPr lang="pt-P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overall design was intentionally kept simple to make the reasoning and trade-offs easy to understand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 Layer Outputs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analytical tables created from the curated silver layer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36118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gold.complaints_analysis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3355848" cy="1755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Aggregates complaints by make, model, vehicle year, and state.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complaint count, injuries, deaths, crash count, and fire count.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15968" y="141732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417320"/>
            <a:ext cx="361188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90472"/>
            <a:ext cx="3337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gold.vehicle_efficiency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1874520"/>
            <a:ext cx="3355848" cy="1755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Aggregates efficiency metrics by make, model, and vehicle year.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average combined MPG, city MPG, highway MPG, CO2, and fuel cost.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46136" y="1417320"/>
            <a:ext cx="353872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46136" y="1417320"/>
            <a:ext cx="3538728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490472"/>
            <a:ext cx="3264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gold.alt_fuel_infrastructure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10728" y="1874520"/>
            <a:ext cx="3282696" cy="1755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Aggregates infrastructure metrics by state and fuel type.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station count and EV charging point metrics.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31520" y="4251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2937"/>
                </a:solidFill>
              </a:rPr>
              <a:t>Together, these tables cover three complementary perspectives: vehicle quality and safety, vehicle efficiency and emissions, and infrastructure readiness for alternative fuels.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Gold Tables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focus and possible extensions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Why this set was chosen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5047488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gold layer was intentionally kept simple and focused for the assessment.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gold table maps directly to one important analytical perspective.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structure is easy to explain, validate, and extend later.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Possible future extensions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874520"/>
            <a:ext cx="5047488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deeper exploratory analysis could support additional gold tables.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time-based complaint trends, efficiency by vehicle class, or more advanced cross-dataset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Loading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loading requirement was interpreted and implemented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Requirement interpretation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5047488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assessment requested a simulated loading step rather than a real production load into Azure SQL Database or a managed Delta Lake environment.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Approach used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874520"/>
            <a:ext cx="5047488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loading step was simulated by writing bronze, silver, and gold outputs as Delta tables in Databricks.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such as .write.format("delta").mode("overwrite").saveAsTable(...) were included directly in the notebooks.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10789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74720"/>
            <a:ext cx="107899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47872"/>
            <a:ext cx="10515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Why Delta tables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931920"/>
            <a:ext cx="10533888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consistent with the medallion architecture.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columnar storage suitable for analytics.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to demonstrate the loading logic requested in the exercise.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Strategy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orchestration approach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Orchestration tool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874520"/>
            <a:ext cx="5047488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Databricks Jobs would be the most direct choice for this notebook-based solution.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Apache Airflow would also be a valid option for broader orchestration needs.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417320"/>
            <a:ext cx="53035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49047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Suggested schedule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36792" y="1874520"/>
            <a:ext cx="5047488" cy="11612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batch execution.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and reliable for a medallion pipeline built with notebooks.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474720"/>
            <a:ext cx="107899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B5B3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74720"/>
            <a:ext cx="10789920" cy="347472"/>
          </a:xfrm>
          <a:prstGeom prst="rect">
            <a:avLst/>
          </a:prstGeom>
          <a:solidFill>
            <a:srgbClr val="FDE7E7"/>
          </a:solidFill>
          <a:ln w="12700">
            <a:solidFill>
              <a:srgbClr val="FDE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47872"/>
            <a:ext cx="10515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1C12"/>
                </a:solidFill>
              </a:rPr>
              <a:t>Why daily batch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0392" y="3931920"/>
            <a:ext cx="10533888" cy="12070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Frequent enough to keep public trend data updated.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the added complexity of streaming.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with the dependency logic: bronze first, silver in parallel, then gold in parallel.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A1C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Deliverables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424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included in the final public GitHub repository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058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notebooks / scripts used to implement the pipeline.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data outputs created by the solution.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PowerPoint presentation documenting the approach, decisions, challenges, and automation proposal.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README file describing the project structure and execution order.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2053</Words>
  <Application>Microsoft Office PowerPoint</Application>
  <PresentationFormat>Ecrã Panorâmico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 Assessment - Automotive Industry Trends Pipeline</dc:title>
  <dc:subject>Data Engineer Assessment - Automotive Industry Trends Pipeline</dc:subject>
  <dc:creator>OpenAI</dc:creator>
  <cp:lastModifiedBy>Inês Diogo</cp:lastModifiedBy>
  <cp:revision>4</cp:revision>
  <dcterms:created xsi:type="dcterms:W3CDTF">2026-04-03T20:08:29Z</dcterms:created>
  <dcterms:modified xsi:type="dcterms:W3CDTF">2026-04-03T20:57:03Z</dcterms:modified>
</cp:coreProperties>
</file>